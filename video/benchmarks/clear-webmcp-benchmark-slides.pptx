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03b1ae404c4adc" /><Relationship Type="http://schemas.openxmlformats.org/officeDocument/2006/relationships/extended-properties" Target="/docProps/app.xml" Id="Rb02ec46dc868452a" /><Relationship Type="http://schemas.openxmlformats.org/officeDocument/2006/relationships/officeDocument" Target="/ppt/presentation.xml" Id="R9ebc59044ab84d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ee3004c9174756"/>
  </p:sldMasterIdLst>
  <p:notesMasterIdLst>
    <p:notesMasterId xmlns:r="http://schemas.openxmlformats.org/officeDocument/2006/relationships" r:id="R88b71288e7e341fa"/>
  </p:notesMasterIdLst>
  <p:sldIdLst>
    <p:sldId xmlns:r="http://schemas.openxmlformats.org/officeDocument/2006/relationships" id="256" r:id="R8b1193396ef2495d"/>
    <p:sldId xmlns:r="http://schemas.openxmlformats.org/officeDocument/2006/relationships" id="257" r:id="R2ce272d4a4294f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843b864b4948f3" /><Relationship Type="http://schemas.openxmlformats.org/officeDocument/2006/relationships/slideMaster" Target="/ppt/slideMasters/slideMaster1.xml" Id="R92ee3004c9174756" /><Relationship Type="http://schemas.openxmlformats.org/officeDocument/2006/relationships/notesMaster" Target="/ppt/notesMasters/notesMaster1.xml" Id="R88b71288e7e341fa" /><Relationship Type="http://schemas.openxmlformats.org/officeDocument/2006/relationships/presProps" Target="/ppt/presProps.xml" Id="Ref720a436215458e" /><Relationship Type="http://schemas.openxmlformats.org/officeDocument/2006/relationships/tableStyles" Target="/ppt/tableStyles.xml" Id="R0184747526f04047" /><Relationship Type="http://schemas.openxmlformats.org/officeDocument/2006/relationships/slide" Target="/ppt/slides/slide1.xml" Id="R8b1193396ef2495d" /><Relationship Type="http://schemas.openxmlformats.org/officeDocument/2006/relationships/slide" Target="/ppt/slides/slide2.xml" Id="R2ce272d4a4294f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e19438616d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e7d984dcf44eb5" /><Relationship Type="http://schemas.openxmlformats.org/officeDocument/2006/relationships/notesMaster" Target="/ppt/notesMasters/notesMaster1.xml" Id="R8d37955748324f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e2a0794d204ebb" /><Relationship Type="http://schemas.openxmlformats.org/officeDocument/2006/relationships/notesMaster" Target="/ppt/notesMasters/notesMaster1.xml" Id="R7731474381d44e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/Users/lukas/Development/webmcp/video/benchmarks/webmcp-vs-grafana-results.json</a:t>
            </a:r>
          </a:p>
          <a:p xmlns:a="http://schemas.openxmlformats.org/drawingml/2006/main">
            <a:r>
              <a:t>- https://grafana.com/docs/grafana/latest/visualizations/dashboards/build-dashboards/create-dashboard/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/Users/lukas/Development/webmcp/video/benchmarks/README.md</a:t>
            </a:r>
          </a:p>
          <a:p xmlns:a="http://schemas.openxmlformats.org/drawingml/2006/main">
            <a:r>
              <a:t>- /Users/lukas/Development/webmcp/video/benchmarks/webmcp-vs-grafana-results.json</a:t>
            </a:r>
          </a:p>
          <a:p xmlns:a="http://schemas.openxmlformats.org/drawingml/2006/main">
            <a:r>
              <a:t>- https://grafana.com/docs/grafana/latest/visualizations/dashboards/build-dashboards/create-dashboard/</a:t>
            </a:r>
          </a:p>
          <a:p xmlns:a="http://schemas.openxmlformats.org/drawingml/2006/main">
            <a:r>
              <a:t>- https://grafana.com/docs/grafana/latest/developer-resources/api-reference/http-api/api-legacy/data_source/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a98af0e0645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c4984980b54cfb" /><Relationship Type="http://schemas.openxmlformats.org/officeDocument/2006/relationships/slideLayout" Target="/ppt/slideLayouts/slideLayout1.xml" Id="Rbb2c5e421a8646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2c5e421a8646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a3b85cf344ed2" /><Relationship Type="http://schemas.openxmlformats.org/officeDocument/2006/relationships/chart" Target="/ppt/slides/charts/chart1.xml" Id="R05d6281f02b6493c" /><Relationship Type="http://schemas.openxmlformats.org/officeDocument/2006/relationships/notesSlide" Target="/ppt/notesSlides/notesSlide1.xml" Id="Rb52b0642a0cc44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779f2cae14cbb" /><Relationship Type="http://schemas.openxmlformats.org/officeDocument/2006/relationships/notesSlide" Target="/ppt/notesSlides/notesSlide2.xml" Id="R8aab2d3dbc634ce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Median round trip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8BCC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cat>
            <c:strLit>
              <c:ptCount val="2"/>
              <c:pt idx="0">
                <c:v>Grafana 13.2</c:v>
              </c:pt>
              <c:pt idx="1">
                <c:v>Clear WebMCP</c:v>
              </c:pt>
            </c:strLit>
          </c:cat>
          <c:val>
            <c:numLit>
              <c:formatCode>General</c:formatCode>
              <c:ptCount val="2"/>
              <c:pt idx="0">
                <c:v>8.55</c:v>
              </c:pt>
              <c:pt idx="1">
                <c:v>2.89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A0A0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F6368"/>
                    </a:solidFill>
                  </a:rPr>
                  <a:t>Median persisted panel update, milliseconds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F636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0A0A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6224DF39-D9FF-40EB-908B-5B07DC9C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WebMCP updates the board faster</a:t>
            </a:r>
          </a:p>
        </p:txBody>
      </p:sp>
      <p:sp>
        <p:nvSpPr>
          <p:cNvPr id="2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5C97B67A-7760-472B-8C61-6E7A1C6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Clear turns an agent instruction into a persisted panel update with less workflow overhead.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14350" y="1676400"/>
          <a:ext xmlns:a="http://schemas.openxmlformats.org/drawingml/2006/main" cx="619125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d6281f02b6493c"/>
          </a:graphicData>
        </a:graphic>
      </p:graphicFrame>
      <p:sp>
        <p:nvSpPr>
          <p:cNvPr id="4" name="slide-1-stat-a">
            <a:extLst xmlns:a="http://schemas.openxmlformats.org/drawingml/2006/main">
              <a:ext uri="{FF2B5EF4-FFF2-40B4-BE49-F238E27FC236}">
                <a16:creationId xmlns:a16="http://schemas.microsoft.com/office/drawing/2014/main" id="{BE4C5DD1-28E5-43E0-8F6B-F74067F6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811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3.0×</a:t>
            </a:r>
          </a:p>
        </p:txBody>
      </p:sp>
      <p:sp>
        <p:nvSpPr>
          <p:cNvPr id="5" name="slide-1-stat-a-label">
            <a:extLst xmlns:a="http://schemas.openxmlformats.org/drawingml/2006/main">
              <a:ext uri="{FF2B5EF4-FFF2-40B4-BE49-F238E27FC236}">
                <a16:creationId xmlns:a16="http://schemas.microsoft.com/office/drawing/2014/main" id="{D836C442-4F9F-439A-B6AB-BF279C52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02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faster median panel update</a:t>
            </a:r>
          </a:p>
        </p:txBody>
      </p:sp>
      <p:sp>
        <p:nvSpPr>
          <p:cNvPr id="6" name="slide-1-rule-a">
            <a:extLst xmlns:a="http://schemas.openxmlformats.org/drawingml/2006/main">
              <a:ext uri="{FF2B5EF4-FFF2-40B4-BE49-F238E27FC236}">
                <a16:creationId xmlns:a16="http://schemas.microsoft.com/office/drawing/2014/main" id="{B3429EAA-3D30-451B-B4E8-EE39A94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slide-1-stat-b">
            <a:extLst xmlns:a="http://schemas.openxmlformats.org/drawingml/2006/main">
              <a:ext uri="{FF2B5EF4-FFF2-40B4-BE49-F238E27FC236}">
                <a16:creationId xmlns:a16="http://schemas.microsoft.com/office/drawing/2014/main" id="{5D32A091-44A2-4AD5-89A5-BC02B2AA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527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70%</a:t>
            </a:r>
          </a:p>
        </p:txBody>
      </p:sp>
      <p:sp>
        <p:nvSpPr>
          <p:cNvPr id="8" name="slide-1-stat-b-label">
            <a:extLst xmlns:a="http://schemas.openxmlformats.org/drawingml/2006/main">
              <a:ext uri="{FF2B5EF4-FFF2-40B4-BE49-F238E27FC236}">
                <a16:creationId xmlns:a16="http://schemas.microsoft.com/office/drawing/2014/main" id="{EF755AF2-1AA7-4504-BE38-3D6136A9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71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smaller metric-query request</a:t>
            </a:r>
          </a:p>
        </p:txBody>
      </p:sp>
      <p:sp>
        <p:nvSpPr>
          <p:cNvPr id="9" name="slide-1-rule-b">
            <a:extLst xmlns:a="http://schemas.openxmlformats.org/drawingml/2006/main">
              <a:ext uri="{FF2B5EF4-FFF2-40B4-BE49-F238E27FC236}">
                <a16:creationId xmlns:a16="http://schemas.microsoft.com/office/drawing/2014/main" id="{4ACE1CE7-C75B-4830-9721-ABDB294F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-1-stat-c">
            <a:extLst xmlns:a="http://schemas.openxmlformats.org/drawingml/2006/main">
              <a:ext uri="{FF2B5EF4-FFF2-40B4-BE49-F238E27FC236}">
                <a16:creationId xmlns:a16="http://schemas.microsoft.com/office/drawing/2014/main" id="{005FA36F-3EB7-421E-8125-4A1A64A8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243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18 : 1</a:t>
            </a:r>
          </a:p>
        </p:txBody>
      </p:sp>
      <p:sp>
        <p:nvSpPr>
          <p:cNvPr id="11" name="slide-1-stat-c-label">
            <a:extLst xmlns:a="http://schemas.openxmlformats.org/drawingml/2006/main">
              <a:ext uri="{FF2B5EF4-FFF2-40B4-BE49-F238E27FC236}">
                <a16:creationId xmlns:a16="http://schemas.microsoft.com/office/drawing/2014/main" id="{BB026E21-8329-4CE1-8F57-2A9FBA20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434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documented steps to one typed call</a:t>
            </a:r>
          </a:p>
        </p:txBody>
      </p:sp>
      <p:sp>
        <p:nvSpPr>
          <p:cNvPr id="12" name="slide-1-footer">
            <a:extLst xmlns:a="http://schemas.openxmlformats.org/drawingml/2006/main">
              <a:ext uri="{FF2B5EF4-FFF2-40B4-BE49-F238E27FC236}">
                <a16:creationId xmlns:a16="http://schemas.microsoft.com/office/drawing/2014/main" id="{B982A7E7-F602-4F7A-BD9A-F2CCC1BF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100 measured iterations  ·  5 warmups  ·  localhost HTTP</a:t>
            </a:r>
          </a:p>
        </p:txBody>
      </p:sp>
      <p:sp>
        <p:nvSpPr>
          <p:cNvPr id="13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0A2A7FDE-D68A-41CE-8D83-3C908D4E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046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9348351-2993-41FD-9469-DA6C6C6D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The advantage is workflow compression</a:t>
            </a:r>
          </a:p>
        </p:txBody>
      </p:sp>
      <p:sp>
        <p:nvSpPr>
          <p:cNvPr id="2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15F035CA-BC10-478A-AA79-DE583255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Metric query latency was effectively tied. WebMCP removes the interaction overhead around the query.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14350" y="1924050"/>
          <a:ext xmlns:a="http://schemas.openxmlformats.org/drawingml/2006/main" cx="111633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000250"/>
                <a:gridCol w="2095500"/>
                <a:gridCol w="3924300"/>
              </a:tblGrid>
              <a:tr h="62103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Measurement</a:t>
                      </a:r>
                    </a:p>
                  </a:txBody>
                  <a:tcPr marL="114300" marR="114300" marT="95250" marB="9525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Clear</a:t>
                      </a:r>
                    </a:p>
                  </a:txBody>
                  <a:tcPr marL="114300" marR="114300" marT="95250" marB="9525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Grafana 13.2</a:t>
                      </a:r>
                    </a:p>
                  </a:txBody>
                  <a:tcPr marL="114300" marR="114300" marT="95250" marB="9525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means</a:t>
                      </a:r>
                    </a:p>
                  </a:txBody>
                  <a:tcPr marL="114300" marR="114300" marT="95250" marB="95250" anchor="ctr">
                    <a:solidFill>
                      <a:srgbClr val="0A0A0A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query, median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2.78 ms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2.96 ms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Effectively tied</a:t>
                      </a:r>
                    </a:p>
                  </a:txBody>
                  <a:tcPr marL="114300" marR="114300" marT="95250" marB="95250" anchor="ctr"/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query request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144 bytes</a:t>
                      </a:r>
                    </a:p>
                  </a:txBody>
                  <a:tcPr marL="114300" marR="114300" marT="95250" marB="9525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473 bytes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70% smaller</a:t>
                      </a:r>
                    </a:p>
                  </a:txBody>
                  <a:tcPr marL="114300" marR="114300" marT="95250" marB="95250" anchor="ctr"/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Panel update, median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2.89 ms</a:t>
                      </a:r>
                    </a:p>
                  </a:txBody>
                  <a:tcPr marL="114300" marR="114300" marT="95250" marB="9525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8.55 ms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3.0x faster</a:t>
                      </a:r>
                    </a:p>
                  </a:txBody>
                  <a:tcPr marL="114300" marR="114300" marT="95250" marB="95250" anchor="ctr"/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panel workflow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typed call</a:t>
                      </a:r>
                    </a:p>
                  </a:txBody>
                  <a:tcPr marL="114300" marR="114300" marT="95250" marB="95250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 steps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18-to-1 path</a:t>
                      </a:r>
                    </a:p>
                  </a:txBody>
                  <a:tcPr marL="114300" marR="114300" marT="95250" marB="95250" anchor="ctr"/>
                </a:tc>
              </a:tr>
            </a:tbl>
          </a:graphicData>
        </a:graphic>
      </p:graphicFrame>
      <p:sp>
        <p:nvSpPr>
          <p:cNvPr id="4" name="slide-2-takeaway">
            <a:extLst xmlns:a="http://schemas.openxmlformats.org/drawingml/2006/main">
              <a:ext uri="{FF2B5EF4-FFF2-40B4-BE49-F238E27FC236}">
                <a16:creationId xmlns:a16="http://schemas.microsoft.com/office/drawing/2014/main" id="{F83F4391-0E8E-48A5-BA62-7E1A1A18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Use the interaction claim first. Keep the latency numbers labeled as a local benchmark.</a:t>
            </a:r>
          </a:p>
        </p:txBody>
      </p:sp>
      <p:sp>
        <p:nvSpPr>
          <p:cNvPr id="5" name="slide-2-method">
            <a:extLst xmlns:a="http://schemas.openxmlformats.org/drawingml/2006/main">
              <a:ext uri="{FF2B5EF4-FFF2-40B4-BE49-F238E27FC236}">
                <a16:creationId xmlns:a16="http://schemas.microsoft.com/office/drawing/2014/main" id="{BFC1C561-6836-4A8B-9F38-9B68C856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150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Clear: PostgreSQL + ClickHouse sandbox. Grafana: TestData + SQLite. Persistence acknowledgement, not browser paint.</a:t>
            </a:r>
          </a:p>
        </p:txBody>
      </p:sp>
      <p:sp>
        <p:nvSpPr>
          <p:cNvPr id="6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C08DE962-EB9C-496F-8BC3-2C45E598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5285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2026-09-03T07:31:04.9180000Z</dcterms:created>
  <dcterms:modified xsi:type="dcterms:W3CDTF">2026-09-03T07:31:04.9180000Z</dcterms:modified>
</coreProperties>
</file>